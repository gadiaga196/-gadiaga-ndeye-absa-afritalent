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131" autoAdjust="0"/>
    <p:restoredTop sz="94660"/>
  </p:normalViewPr>
  <p:slideViewPr>
    <p:cSldViewPr snapToGrid="0">
      <p:cViewPr varScale="1">
        <p:scale>
          <a:sx n="51" d="100"/>
          <a:sy n="51" d="100"/>
        </p:scale>
        <p:origin x="67" y="8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E6E6-76F2-42F2-9F9B-5F9D6C0BC970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755F7-0E7C-4343-9327-EC82BD98CA1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E6E6-76F2-42F2-9F9B-5F9D6C0BC970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755F7-0E7C-4343-9327-EC82BD98CA1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E6E6-76F2-42F2-9F9B-5F9D6C0BC970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755F7-0E7C-4343-9327-EC82BD98CA1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E6E6-76F2-42F2-9F9B-5F9D6C0BC970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755F7-0E7C-4343-9327-EC82BD98CA1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E6E6-76F2-42F2-9F9B-5F9D6C0BC970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755F7-0E7C-4343-9327-EC82BD98CA1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E6E6-76F2-42F2-9F9B-5F9D6C0BC970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755F7-0E7C-4343-9327-EC82BD98CA1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E6E6-76F2-42F2-9F9B-5F9D6C0BC970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755F7-0E7C-4343-9327-EC82BD98CA1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E6E6-76F2-42F2-9F9B-5F9D6C0BC970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755F7-0E7C-4343-9327-EC82BD98CA1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E6E6-76F2-42F2-9F9B-5F9D6C0BC970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755F7-0E7C-4343-9327-EC82BD98CA1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E6E6-76F2-42F2-9F9B-5F9D6C0BC970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755F7-0E7C-4343-9327-EC82BD98CA1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E6E6-76F2-42F2-9F9B-5F9D6C0BC970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755F7-0E7C-4343-9327-EC82BD98CA1A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E6E6-76F2-42F2-9F9B-5F9D6C0BC970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755F7-0E7C-4343-9327-EC82BD98CA1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E6E6-76F2-42F2-9F9B-5F9D6C0BC970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755F7-0E7C-4343-9327-EC82BD98CA1A}" type="slidenum">
              <a:rPr lang="fr-FR" smtClean="0"/>
              <a:t>‹N°›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E6E6-76F2-42F2-9F9B-5F9D6C0BC970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755F7-0E7C-4343-9327-EC82BD98CA1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E6E6-76F2-42F2-9F9B-5F9D6C0BC970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755F7-0E7C-4343-9327-EC82BD98CA1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E6E6-76F2-42F2-9F9B-5F9D6C0BC970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755F7-0E7C-4343-9327-EC82BD98CA1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2AE6E6-76F2-42F2-9F9B-5F9D6C0BC970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B6755F7-0E7C-4343-9327-EC82BD98CA1A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diaga196.github.io/-Gadiaga-Ndeye-Absa-AfriTalent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3732">
              <a:srgbClr val="E1EEF8"/>
            </a:gs>
            <a:gs pos="13727">
              <a:srgbClr val="EAF3FA"/>
            </a:gs>
            <a:gs pos="7474">
              <a:srgbClr val="F0F6FB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3999" y="-470910"/>
            <a:ext cx="9144000" cy="2387600"/>
          </a:xfrm>
          <a:effectLst>
            <a:outerShdw blurRad="50800" dist="139700" dir="5400000" algn="ctr" rotWithShape="0">
              <a:schemeClr val="accent1">
                <a:lumMod val="75000"/>
              </a:scheme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>
            <a:noAutofit/>
          </a:bodyPr>
          <a:lstStyle/>
          <a:p>
            <a:r>
              <a:rPr lang="fr-FR" sz="9600" dirty="0" smtClean="0">
                <a:latin typeface="Algerian" panose="04020705040A02060702" pitchFamily="82" charset="0"/>
              </a:rPr>
              <a:t/>
            </a:r>
            <a:br>
              <a:rPr lang="fr-FR" sz="9600" dirty="0" smtClean="0">
                <a:latin typeface="Algerian" panose="04020705040A02060702" pitchFamily="82" charset="0"/>
              </a:rPr>
            </a:br>
            <a:r>
              <a:rPr lang="fr-FR" sz="9600" dirty="0" smtClean="0">
                <a:latin typeface="Algerian" panose="04020705040A02060702" pitchFamily="82" charset="0"/>
              </a:rPr>
              <a:t>AfriTalent</a:t>
            </a:r>
            <a:endParaRPr lang="fr-FR" sz="9600" dirty="0">
              <a:latin typeface="Algerian" panose="04020705040A02060702" pitchFamily="82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3999" y="2854036"/>
            <a:ext cx="9379528" cy="3796146"/>
          </a:xfrm>
        </p:spPr>
        <p:txBody>
          <a:bodyPr>
            <a:normAutofit lnSpcReduction="10000"/>
          </a:bodyPr>
          <a:lstStyle/>
          <a:p>
            <a:r>
              <a:rPr lang="fr-FR" sz="2800" dirty="0" smtClean="0">
                <a:latin typeface="Agency FB" panose="020B0503020202020204" pitchFamily="34" charset="0"/>
              </a:rPr>
              <a:t>Plateforme de mise en relation entre freelances africains et clients</a:t>
            </a:r>
          </a:p>
          <a:p>
            <a:pPr algn="just"/>
            <a:r>
              <a:rPr lang="fr-FR" sz="2800" b="1" i="1" u="sng" dirty="0" smtClean="0">
                <a:solidFill>
                  <a:schemeClr val="tx2">
                    <a:lumMod val="50000"/>
                  </a:schemeClr>
                </a:solidFill>
              </a:rPr>
              <a:t>Réalisé par </a:t>
            </a:r>
            <a:r>
              <a:rPr lang="fr-FR" sz="2800" i="1" dirty="0" smtClean="0">
                <a:solidFill>
                  <a:schemeClr val="tx2">
                    <a:lumMod val="50000"/>
                  </a:schemeClr>
                </a:solidFill>
              </a:rPr>
              <a:t>:</a:t>
            </a:r>
          </a:p>
          <a:p>
            <a:pPr algn="just"/>
            <a:r>
              <a:rPr lang="fr-FR" sz="2800" dirty="0" smtClean="0">
                <a:solidFill>
                  <a:schemeClr val="tx2">
                    <a:lumMod val="50000"/>
                  </a:schemeClr>
                </a:solidFill>
              </a:rPr>
              <a:t>Ndeye Absa Gadiaga</a:t>
            </a:r>
          </a:p>
          <a:p>
            <a:pPr algn="just"/>
            <a:r>
              <a:rPr lang="fr-FR" sz="2800" b="1" i="1" u="sng" dirty="0" smtClean="0">
                <a:solidFill>
                  <a:schemeClr val="tx2">
                    <a:lumMod val="50000"/>
                  </a:schemeClr>
                </a:solidFill>
              </a:rPr>
              <a:t>Classe</a:t>
            </a:r>
            <a:r>
              <a:rPr lang="fr-FR" sz="2800" i="1" dirty="0" smtClean="0">
                <a:solidFill>
                  <a:schemeClr val="tx2">
                    <a:lumMod val="50000"/>
                  </a:schemeClr>
                </a:solidFill>
              </a:rPr>
              <a:t> :</a:t>
            </a:r>
          </a:p>
          <a:p>
            <a:pPr algn="just"/>
            <a:r>
              <a:rPr lang="fr-FR" sz="2800" dirty="0" smtClean="0">
                <a:solidFill>
                  <a:schemeClr val="tx2">
                    <a:lumMod val="50000"/>
                  </a:schemeClr>
                </a:solidFill>
              </a:rPr>
              <a:t>L1 Web – ISI</a:t>
            </a:r>
          </a:p>
          <a:p>
            <a:pPr algn="just"/>
            <a:r>
              <a:rPr lang="fr-FR" sz="2800" b="1" i="1" u="sng" dirty="0" smtClean="0">
                <a:solidFill>
                  <a:schemeClr val="tx2">
                    <a:lumMod val="50000"/>
                  </a:schemeClr>
                </a:solidFill>
              </a:rPr>
              <a:t>Date</a:t>
            </a:r>
            <a:r>
              <a:rPr lang="fr-FR" sz="2800" i="1" dirty="0" smtClean="0">
                <a:solidFill>
                  <a:schemeClr val="tx2">
                    <a:lumMod val="50000"/>
                  </a:schemeClr>
                </a:solidFill>
              </a:rPr>
              <a:t> :</a:t>
            </a:r>
          </a:p>
          <a:p>
            <a:pPr algn="just"/>
            <a:r>
              <a:rPr lang="fr-FR" sz="2800" dirty="0" smtClean="0">
                <a:solidFill>
                  <a:schemeClr val="tx2">
                    <a:lumMod val="50000"/>
                  </a:schemeClr>
                </a:solidFill>
              </a:rPr>
              <a:t>Juin 2026</a:t>
            </a:r>
            <a:endParaRPr lang="fr-FR" sz="28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sommaire</a:t>
            </a:r>
            <a:endParaRPr lang="fr-FR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dirty="0" smtClean="0">
                <a:latin typeface="+mj-lt"/>
              </a:rPr>
              <a:t>Présentation du projet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>
                <a:latin typeface="+mj-lt"/>
              </a:rPr>
              <a:t>Choix de design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>
                <a:latin typeface="+mj-lt"/>
              </a:rPr>
              <a:t>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>
                <a:latin typeface="+mj-lt"/>
              </a:rPr>
              <a:t>Point technique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>
                <a:latin typeface="+mj-lt"/>
              </a:rPr>
              <a:t>Points techniques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>
                <a:latin typeface="+mj-lt"/>
              </a:rPr>
              <a:t>GitHub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>
                <a:latin typeface="+mj-lt"/>
              </a:rPr>
              <a:t>Difficultés rencontrées et solutions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>
                <a:latin typeface="+mj-lt"/>
              </a:rPr>
              <a:t>Ressources et documentation utilisées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>
                <a:latin typeface="+mj-lt"/>
              </a:rPr>
              <a:t>Démonstration live du site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>
                <a:latin typeface="+mj-lt"/>
              </a:rPr>
              <a:t>Conclusion et perspectives  d’amélioration</a:t>
            </a:r>
          </a:p>
          <a:p>
            <a:pPr marL="514350" indent="-514350">
              <a:buFont typeface="+mj-lt"/>
              <a:buAutoNum type="arabicPeriod"/>
            </a:pPr>
            <a:endParaRPr lang="fr-FR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Présentation du site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ctr"/>
            <a:r>
              <a:rPr lang="fr-FR" sz="2400" b="1" i="1" dirty="0" smtClean="0">
                <a:latin typeface="+mj-lt"/>
              </a:rPr>
              <a:t>Contexte:</a:t>
            </a:r>
          </a:p>
          <a:p>
            <a:pPr marL="0" indent="0">
              <a:buNone/>
            </a:pPr>
            <a:r>
              <a:rPr lang="fr-FR" sz="2100" dirty="0" smtClean="0">
                <a:latin typeface="+mj-lt"/>
              </a:rPr>
              <a:t>L’écosystème numérique en Afrique regorge de talents qualifiés (développeurs, designers, consultants), et la demande mondiale pour le freelancing ne cesse de croître </a:t>
            </a:r>
          </a:p>
          <a:p>
            <a:pPr marL="0" indent="0">
              <a:buNone/>
            </a:pPr>
            <a:r>
              <a:rPr lang="fr-FR" sz="2100" dirty="0" smtClean="0">
                <a:latin typeface="+mj-lt"/>
              </a:rPr>
              <a:t>Les recruteurs internationnaux et locaux peinent à identifier, évoluer et contacter facilement ses professionnels en raison du manque de plateformes centralisées et adaptées aux réalités  du continent.</a:t>
            </a:r>
          </a:p>
          <a:p>
            <a:pPr algn="ctr"/>
            <a:r>
              <a:rPr lang="fr-FR" sz="2400" b="1" i="1" dirty="0" smtClean="0">
                <a:latin typeface="+mj-lt"/>
              </a:rPr>
              <a:t>Objectif:</a:t>
            </a:r>
          </a:p>
          <a:p>
            <a:pPr marL="0" indent="0">
              <a:buNone/>
            </a:pPr>
            <a:r>
              <a:rPr lang="fr-FR" sz="2300" dirty="0" smtClean="0">
                <a:latin typeface="+mj-lt"/>
              </a:rPr>
              <a:t>Créer une vitrine web moderne, fluide et intuitive qui connecte directement les freelances africains avec des opportunités d’affaires à l’</a:t>
            </a:r>
            <a:r>
              <a:rPr lang="fr-FR" sz="2300" dirty="0">
                <a:latin typeface="+mj-lt"/>
              </a:rPr>
              <a:t>é</a:t>
            </a:r>
            <a:r>
              <a:rPr lang="fr-FR" sz="2300" dirty="0" smtClean="0">
                <a:latin typeface="+mj-lt"/>
              </a:rPr>
              <a:t>chelle  globale.</a:t>
            </a:r>
          </a:p>
          <a:p>
            <a:pPr algn="ctr"/>
            <a:r>
              <a:rPr lang="fr-FR" sz="2400" b="1" i="1" dirty="0" smtClean="0">
                <a:latin typeface="+mj-lt"/>
              </a:rPr>
              <a:t>Public cible:</a:t>
            </a:r>
          </a:p>
          <a:p>
            <a:pPr marL="0" indent="0">
              <a:buNone/>
            </a:pPr>
            <a:r>
              <a:rPr lang="fr-FR" sz="2300" dirty="0" smtClean="0">
                <a:latin typeface="+mj-lt"/>
              </a:rPr>
              <a:t>Freelances, indépendants et professionnels du numérique basés en Afrique(Développeurs, UI/UX Designers, community  Managers, Data Analystes).</a:t>
            </a:r>
          </a:p>
          <a:p>
            <a:pPr marL="0" indent="0">
              <a:buNone/>
            </a:pPr>
            <a:r>
              <a:rPr lang="fr-FR" sz="2300" dirty="0" smtClean="0">
                <a:latin typeface="+mj-lt"/>
              </a:rPr>
              <a:t>Briser les barrières géographiques, gagner en visibilité à l’international et décrocher des contrats rémunérés à leur juste valeur.</a:t>
            </a:r>
            <a:endParaRPr lang="fr-FR" sz="2300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0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Choix de design</a:t>
            </a:r>
            <a:endParaRPr lang="fr-FR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4977" y="1380392"/>
            <a:ext cx="11825653" cy="5367023"/>
          </a:xfrm>
        </p:spPr>
        <p:txBody>
          <a:bodyPr/>
          <a:lstStyle/>
          <a:p>
            <a:endParaRPr lang="fr-FR" dirty="0" smtClean="0"/>
          </a:p>
          <a:p>
            <a:pPr algn="ctr"/>
            <a:r>
              <a:rPr lang="fr-FR" sz="2000" b="1" i="1" dirty="0" smtClean="0"/>
              <a:t>Palette (code </a:t>
            </a:r>
            <a:r>
              <a:rPr lang="fr-FR" sz="2000" b="1" i="1" dirty="0" err="1" smtClean="0"/>
              <a:t>hex</a:t>
            </a:r>
            <a:r>
              <a:rPr lang="fr-FR" sz="2000" b="1" i="1" dirty="0" smtClean="0"/>
              <a:t>)</a:t>
            </a:r>
            <a:endParaRPr lang="fr-FR" sz="2000" b="1" i="1" dirty="0"/>
          </a:p>
        </p:txBody>
      </p:sp>
      <p:sp>
        <p:nvSpPr>
          <p:cNvPr id="4" name="Rectangle à coins arrondis 3"/>
          <p:cNvSpPr/>
          <p:nvPr/>
        </p:nvSpPr>
        <p:spPr>
          <a:xfrm>
            <a:off x="398318" y="2133142"/>
            <a:ext cx="4911437" cy="193076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i="1" dirty="0" smtClean="0"/>
              <a:t>Bleu violacé (</a:t>
            </a:r>
            <a:r>
              <a:rPr lang="fr-FR" b="1" i="1" dirty="0"/>
              <a:t>#</a:t>
            </a:r>
            <a:r>
              <a:rPr lang="fr-FR" b="1" i="1" dirty="0" smtClean="0"/>
              <a:t>6366f1):</a:t>
            </a:r>
          </a:p>
          <a:p>
            <a:pPr algn="ctr"/>
            <a:r>
              <a:rPr lang="fr-FR" dirty="0" smtClean="0"/>
              <a:t>Couleur principale, choisie spécialement pour les boutons CTA , quelques cartes et les liens  afin </a:t>
            </a:r>
            <a:r>
              <a:rPr lang="fr-FR" dirty="0" smtClean="0"/>
              <a:t>d’attirer l’attention de l’utilisateur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5" name="Rectangle à coins arrondis 4"/>
          <p:cNvSpPr/>
          <p:nvPr/>
        </p:nvSpPr>
        <p:spPr>
          <a:xfrm>
            <a:off x="7065818" y="2100911"/>
            <a:ext cx="4821381" cy="193076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i="1" dirty="0" smtClean="0"/>
              <a:t>Gris claire (</a:t>
            </a:r>
            <a:r>
              <a:rPr lang="fr-FR" b="1" i="1" dirty="0" err="1"/>
              <a:t>rgba</a:t>
            </a:r>
            <a:r>
              <a:rPr lang="fr-FR" b="1" i="1" dirty="0"/>
              <a:t>(0, 0, 0, 0.01</a:t>
            </a:r>
            <a:r>
              <a:rPr lang="fr-FR" b="1" i="1" dirty="0" smtClean="0"/>
              <a:t>)):</a:t>
            </a:r>
          </a:p>
          <a:p>
            <a:pPr algn="ctr"/>
            <a:r>
              <a:rPr lang="fr-FR" dirty="0" smtClean="0"/>
              <a:t>Couleur choisie par certain de ces cartes pour améliorer la visibilité </a:t>
            </a:r>
            <a:endParaRPr lang="fr-FR" dirty="0"/>
          </a:p>
        </p:txBody>
      </p:sp>
      <p:sp>
        <p:nvSpPr>
          <p:cNvPr id="8" name="Rectangle à coins arrondis 7"/>
          <p:cNvSpPr/>
          <p:nvPr/>
        </p:nvSpPr>
        <p:spPr>
          <a:xfrm>
            <a:off x="436417" y="4706073"/>
            <a:ext cx="4911437" cy="19164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i="1" dirty="0" smtClean="0"/>
              <a:t>Blancs (#ffffff):</a:t>
            </a:r>
          </a:p>
          <a:p>
            <a:pPr algn="ctr"/>
            <a:r>
              <a:rPr lang="fr-FR" dirty="0" smtClean="0"/>
              <a:t>Couleur fond choisie pour l’arrière plan afin </a:t>
            </a:r>
            <a:r>
              <a:rPr lang="fr-FR" dirty="0" smtClean="0"/>
              <a:t>d’ apporter la clarté </a:t>
            </a:r>
            <a:r>
              <a:rPr lang="fr-FR" dirty="0" smtClean="0"/>
              <a:t>du site et la rende beaucoup plus moderne </a:t>
            </a:r>
            <a:endParaRPr lang="fr-FR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7065818" y="4706071"/>
            <a:ext cx="4821381" cy="191640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i="1" dirty="0" smtClean="0"/>
              <a:t>Bleu  foncé (</a:t>
            </a:r>
            <a:r>
              <a:rPr lang="fr-FR" b="1" i="1" dirty="0" err="1"/>
              <a:t>rgba</a:t>
            </a:r>
            <a:r>
              <a:rPr lang="fr-FR" b="1" i="1" dirty="0"/>
              <a:t>(15, 23, 42, 0.04</a:t>
            </a:r>
            <a:r>
              <a:rPr lang="fr-FR" b="1" i="1" dirty="0" smtClean="0"/>
              <a:t>)):</a:t>
            </a:r>
          </a:p>
          <a:p>
            <a:pPr algn="ctr"/>
            <a:r>
              <a:rPr lang="fr-FR" dirty="0" smtClean="0"/>
              <a:t>Couleur choisie en mode sombre par les cartes  afin de </a:t>
            </a:r>
            <a:r>
              <a:rPr lang="fr-FR" dirty="0" smtClean="0"/>
              <a:t>rendre l’interface </a:t>
            </a:r>
            <a:r>
              <a:rPr lang="fr-FR" dirty="0" smtClean="0"/>
              <a:t> </a:t>
            </a:r>
            <a:r>
              <a:rPr lang="fr-FR" dirty="0" smtClean="0"/>
              <a:t>plus professionnel </a:t>
            </a:r>
          </a:p>
        </p:txBody>
      </p:sp>
      <p:sp>
        <p:nvSpPr>
          <p:cNvPr id="10" name="Ellipse 9"/>
          <p:cNvSpPr/>
          <p:nvPr/>
        </p:nvSpPr>
        <p:spPr>
          <a:xfrm>
            <a:off x="945570" y="2325794"/>
            <a:ext cx="477984" cy="290946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/>
          <p:cNvSpPr/>
          <p:nvPr/>
        </p:nvSpPr>
        <p:spPr>
          <a:xfrm>
            <a:off x="7204364" y="2601839"/>
            <a:ext cx="471054" cy="29094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/>
          <p:cNvSpPr/>
          <p:nvPr/>
        </p:nvSpPr>
        <p:spPr>
          <a:xfrm>
            <a:off x="1423554" y="5084618"/>
            <a:ext cx="543791" cy="26323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llipse 15"/>
          <p:cNvSpPr/>
          <p:nvPr/>
        </p:nvSpPr>
        <p:spPr>
          <a:xfrm>
            <a:off x="7065818" y="5084618"/>
            <a:ext cx="408709" cy="297869"/>
          </a:xfrm>
          <a:prstGeom prst="ellipse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dk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Choix design</a:t>
            </a:r>
            <a:endParaRPr lang="fr-FR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96982" y="1690688"/>
            <a:ext cx="12288982" cy="5167312"/>
          </a:xfrm>
        </p:spPr>
        <p:txBody>
          <a:bodyPr/>
          <a:lstStyle/>
          <a:p>
            <a:r>
              <a:rPr lang="fr-FR" dirty="0" smtClean="0"/>
              <a:t>J’ai choisi deux types de polices Titres et corps:</a:t>
            </a:r>
            <a:endParaRPr lang="fr-FR" dirty="0"/>
          </a:p>
        </p:txBody>
      </p:sp>
      <p:sp>
        <p:nvSpPr>
          <p:cNvPr id="4" name="Rectangle à coins arrondis 3"/>
          <p:cNvSpPr/>
          <p:nvPr/>
        </p:nvSpPr>
        <p:spPr>
          <a:xfrm>
            <a:off x="207818" y="2355271"/>
            <a:ext cx="5791199" cy="253538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2400" b="1" i="1" dirty="0" smtClean="0"/>
          </a:p>
          <a:p>
            <a:pPr algn="ctr"/>
            <a:r>
              <a:rPr lang="fr-FR" sz="2400" b="1" i="1" dirty="0" smtClean="0"/>
              <a:t>Police1 (Titre):</a:t>
            </a:r>
          </a:p>
          <a:p>
            <a:r>
              <a:rPr lang="fr-FR" dirty="0" smtClean="0"/>
              <a:t>@import url('https://fonts.googleapis.com/css2?family=</a:t>
            </a:r>
            <a:r>
              <a:rPr lang="fr-FR" dirty="0" err="1" smtClean="0"/>
              <a:t>Arimo&amp;display</a:t>
            </a:r>
            <a:r>
              <a:rPr lang="fr-FR" dirty="0" smtClean="0"/>
              <a:t>=swap');</a:t>
            </a:r>
          </a:p>
          <a:p>
            <a:r>
              <a:rPr lang="fr-FR" dirty="0" smtClean="0"/>
              <a:t> </a:t>
            </a:r>
            <a:r>
              <a:rPr lang="fr-FR" dirty="0" smtClean="0"/>
              <a:t>utilisée pour les titres principaux et les sous titres. Son style moderne et sans empattement permet une lecteur rapide. Met en valeur les éléments importants et l’interfaces.</a:t>
            </a:r>
            <a:endParaRPr lang="fr-FR" dirty="0" smtClean="0"/>
          </a:p>
          <a:p>
            <a:pPr algn="ctr"/>
            <a:endParaRPr lang="fr-FR" dirty="0"/>
          </a:p>
        </p:txBody>
      </p:sp>
      <p:sp>
        <p:nvSpPr>
          <p:cNvPr id="5" name="Rectangle à coins arrondis 4"/>
          <p:cNvSpPr/>
          <p:nvPr/>
        </p:nvSpPr>
        <p:spPr>
          <a:xfrm rot="10800000" flipH="1" flipV="1">
            <a:off x="6276105" y="2355271"/>
            <a:ext cx="5749639" cy="253538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2400" b="1" i="1" dirty="0" smtClean="0"/>
          </a:p>
          <a:p>
            <a:pPr algn="ctr"/>
            <a:r>
              <a:rPr lang="fr-FR" sz="2400" b="1" i="1" dirty="0" smtClean="0"/>
              <a:t>Police2 (corps):</a:t>
            </a:r>
          </a:p>
          <a:p>
            <a:r>
              <a:rPr lang="fr-FR" dirty="0" smtClean="0"/>
              <a:t> </a:t>
            </a:r>
            <a:r>
              <a:rPr lang="fr-FR" dirty="0"/>
              <a:t>@import url('https://fonts.googleapis.com/css2?family=</a:t>
            </a:r>
            <a:r>
              <a:rPr lang="fr-FR" dirty="0" err="1"/>
              <a:t>Lora&amp;display</a:t>
            </a:r>
            <a:r>
              <a:rPr lang="fr-FR" dirty="0"/>
              <a:t>=swap');</a:t>
            </a:r>
          </a:p>
          <a:p>
            <a:r>
              <a:rPr lang="fr-FR" dirty="0" smtClean="0"/>
              <a:t>Utilisée pour les paragraphes et les textes descriptifs. Offre une </a:t>
            </a:r>
            <a:r>
              <a:rPr lang="fr-FR" dirty="0" err="1" smtClean="0"/>
              <a:t>exelente</a:t>
            </a:r>
            <a:r>
              <a:rPr lang="fr-FR" dirty="0" smtClean="0"/>
              <a:t> lisibilité grâce  à ses empattements. Apporte une touche élégante et professionnelle au contenu.</a:t>
            </a:r>
            <a:endParaRPr lang="fr-FR" dirty="0" smtClean="0"/>
          </a:p>
          <a:p>
            <a:pPr algn="ctr"/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207819" y="5070764"/>
            <a:ext cx="11360726" cy="178723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i="1" dirty="0" smtClean="0"/>
              <a:t> Inspiration  du design:</a:t>
            </a:r>
          </a:p>
          <a:p>
            <a:pPr algn="ctr"/>
            <a:r>
              <a:rPr lang="fr-FR" dirty="0" smtClean="0"/>
              <a:t>LinkedIn :Présentation professionnelles des profils</a:t>
            </a:r>
          </a:p>
          <a:p>
            <a:pPr algn="ctr"/>
            <a:r>
              <a:rPr lang="fr-FR" dirty="0" smtClean="0"/>
              <a:t>Fiverr :</a:t>
            </a:r>
          </a:p>
          <a:p>
            <a:pPr algn="ctr"/>
            <a:r>
              <a:rPr lang="fr-FR" dirty="0" smtClean="0"/>
              <a:t>Utilisateur de cartes pour présenter les freelances</a:t>
            </a:r>
          </a:p>
          <a:p>
            <a:pPr algn="ctr"/>
            <a:r>
              <a:rPr lang="fr-FR" dirty="0" smtClean="0"/>
              <a:t>Upwork:</a:t>
            </a:r>
          </a:p>
          <a:p>
            <a:pPr algn="ctr"/>
            <a:r>
              <a:rPr lang="fr-FR" dirty="0" smtClean="0"/>
              <a:t>Organisation claire des services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Architecture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fr-FR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43345" y="1690688"/>
            <a:ext cx="10910455" cy="4959494"/>
          </a:xfrm>
        </p:spPr>
        <p:txBody>
          <a:bodyPr>
            <a:normAutofit fontScale="85000" lnSpcReduction="20000"/>
          </a:bodyPr>
          <a:lstStyle/>
          <a:p>
            <a:endParaRPr lang="fr-FR" dirty="0" smtClean="0"/>
          </a:p>
          <a:p>
            <a:pPr algn="ctr"/>
            <a:r>
              <a:rPr lang="fr-FR" sz="5100" b="1" i="1" dirty="0" smtClean="0"/>
              <a:t>Arborescence:</a:t>
            </a:r>
          </a:p>
          <a:p>
            <a:r>
              <a:rPr lang="fr-FR" dirty="0" smtClean="0"/>
              <a:t> Gadiaga-</a:t>
            </a:r>
            <a:r>
              <a:rPr lang="fr-FR" dirty="0" err="1" smtClean="0"/>
              <a:t>Ndeye_Absa</a:t>
            </a:r>
            <a:r>
              <a:rPr lang="fr-FR" dirty="0" smtClean="0"/>
              <a:t>-AfriTalent/ </a:t>
            </a:r>
          </a:p>
          <a:p>
            <a:r>
              <a:rPr lang="fr-FR" dirty="0" smtClean="0"/>
              <a:t>├── index.html </a:t>
            </a:r>
          </a:p>
          <a:p>
            <a:r>
              <a:rPr lang="fr-FR" dirty="0" smtClean="0"/>
              <a:t>├── freelances.html </a:t>
            </a:r>
          </a:p>
          <a:p>
            <a:r>
              <a:rPr lang="fr-FR" dirty="0" smtClean="0"/>
              <a:t>├── tarifs.html </a:t>
            </a:r>
          </a:p>
          <a:p>
            <a:r>
              <a:rPr lang="fr-FR" dirty="0" smtClean="0"/>
              <a:t>├── about.html </a:t>
            </a:r>
          </a:p>
          <a:p>
            <a:r>
              <a:rPr lang="fr-FR" dirty="0" smtClean="0"/>
              <a:t>├── contact.html</a:t>
            </a:r>
          </a:p>
          <a:p>
            <a:r>
              <a:rPr lang="fr-FR" dirty="0" smtClean="0"/>
              <a:t>├── </a:t>
            </a:r>
            <a:r>
              <a:rPr lang="fr-FR" dirty="0" err="1" smtClean="0"/>
              <a:t>css</a:t>
            </a:r>
            <a:r>
              <a:rPr lang="fr-FR" dirty="0" smtClean="0"/>
              <a:t>/style.css </a:t>
            </a:r>
          </a:p>
          <a:p>
            <a:r>
              <a:rPr lang="fr-FR" dirty="0" smtClean="0"/>
              <a:t>├── </a:t>
            </a:r>
            <a:r>
              <a:rPr lang="fr-FR" dirty="0" err="1" smtClean="0"/>
              <a:t>js</a:t>
            </a:r>
            <a:r>
              <a:rPr lang="fr-FR" dirty="0" smtClean="0"/>
              <a:t>/ main.js </a:t>
            </a:r>
          </a:p>
          <a:p>
            <a:r>
              <a:rPr lang="fr-FR" dirty="0" smtClean="0"/>
              <a:t>├── images/ (vos images, logos, avatars) </a:t>
            </a:r>
          </a:p>
          <a:p>
            <a:r>
              <a:rPr lang="fr-FR" dirty="0" smtClean="0"/>
              <a:t>├── docs/ Gadiaga_Ndeye_Absa_Presentation.pptx</a:t>
            </a:r>
          </a:p>
          <a:p>
            <a:r>
              <a:rPr lang="fr-FR" dirty="0" smtClean="0"/>
              <a:t>├── README.md</a:t>
            </a:r>
          </a:p>
          <a:p>
            <a:r>
              <a:rPr lang="fr-FR" dirty="0" smtClean="0"/>
              <a:t>└── .</a:t>
            </a:r>
            <a:r>
              <a:rPr lang="fr-FR" dirty="0" err="1" smtClean="0"/>
              <a:t>gitignore</a:t>
            </a:r>
            <a:endParaRPr lang="fr-F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Architecture</a:t>
            </a:r>
            <a:endParaRPr lang="fr-FR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Capture d’</a:t>
            </a:r>
            <a:r>
              <a:rPr lang="fr-FR" dirty="0"/>
              <a:t>é</a:t>
            </a:r>
            <a:r>
              <a:rPr lang="fr-FR" dirty="0" smtClean="0"/>
              <a:t>cran des pages:</a:t>
            </a:r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72" y="2701636"/>
            <a:ext cx="3380509" cy="4156364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591" y="2563091"/>
            <a:ext cx="3449781" cy="429490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1117" y="2563091"/>
            <a:ext cx="3588328" cy="42949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Point technique </a:t>
            </a:r>
            <a:endParaRPr lang="fr-FR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-1"/>
            <a:ext cx="12192000" cy="698269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 err="1" smtClean="0"/>
          </a:p>
          <a:p>
            <a:pPr marL="0" indent="0" algn="ctr">
              <a:buNone/>
            </a:pPr>
            <a:r>
              <a:rPr lang="fr-FR" b="1" i="1" dirty="0" err="1" smtClean="0"/>
              <a:t>Js</a:t>
            </a:r>
            <a:r>
              <a:rPr lang="fr-FR" b="1" i="1" dirty="0" smtClean="0"/>
              <a:t>(extrait de code + logique:</a:t>
            </a:r>
            <a:endParaRPr lang="fr-FR" b="1" i="1" dirty="0"/>
          </a:p>
        </p:txBody>
      </p:sp>
      <p:sp>
        <p:nvSpPr>
          <p:cNvPr id="4" name="Organigramme : Alternative 3"/>
          <p:cNvSpPr/>
          <p:nvPr/>
        </p:nvSpPr>
        <p:spPr>
          <a:xfrm>
            <a:off x="0" y="2258292"/>
            <a:ext cx="5798126" cy="4475017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400" b="1" i="1" dirty="0" smtClean="0"/>
              <a:t> Compteurs animés:</a:t>
            </a:r>
          </a:p>
          <a:p>
            <a:r>
              <a:rPr lang="fr-FR" dirty="0"/>
              <a:t> </a:t>
            </a:r>
            <a:r>
              <a:rPr lang="fr-FR" dirty="0" smtClean="0"/>
              <a:t> </a:t>
            </a:r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 smtClean="0"/>
          </a:p>
          <a:p>
            <a:pPr algn="ctr"/>
            <a:endParaRPr lang="fr-FR" dirty="0"/>
          </a:p>
          <a:p>
            <a:pPr algn="ctr"/>
            <a:endParaRPr lang="fr-FR" dirty="0" smtClean="0"/>
          </a:p>
          <a:p>
            <a:pPr algn="ctr"/>
            <a:endParaRPr lang="fr-FR" dirty="0" smtClean="0"/>
          </a:p>
          <a:p>
            <a:pPr algn="ctr"/>
            <a:endParaRPr lang="fr-FR" dirty="0"/>
          </a:p>
          <a:p>
            <a:pPr algn="ctr"/>
            <a:endParaRPr lang="fr-FR" dirty="0" smtClean="0"/>
          </a:p>
          <a:p>
            <a:pPr algn="ctr"/>
            <a:endParaRPr lang="fr-FR" dirty="0"/>
          </a:p>
          <a:p>
            <a:pPr algn="ctr"/>
            <a:r>
              <a:rPr lang="fr-FR" dirty="0" smtClean="0"/>
              <a:t>L’animation  démarre uniquement lorsque la section devient visible à l’écran.</a:t>
            </a:r>
          </a:p>
          <a:p>
            <a:pPr algn="ctr"/>
            <a:r>
              <a:rPr lang="fr-FR" dirty="0" smtClean="0"/>
              <a:t>Cela  améliore  les performances et l’expérience  utilisateur.</a:t>
            </a:r>
          </a:p>
          <a:p>
            <a:pPr algn="ctr"/>
            <a:endParaRPr lang="fr-FR" dirty="0" smtClean="0"/>
          </a:p>
        </p:txBody>
      </p:sp>
      <p:sp>
        <p:nvSpPr>
          <p:cNvPr id="5" name="Organigramme : Alternative 4"/>
          <p:cNvSpPr/>
          <p:nvPr/>
        </p:nvSpPr>
        <p:spPr>
          <a:xfrm>
            <a:off x="6636326" y="2258292"/>
            <a:ext cx="5534892" cy="4433452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2400" b="1" i="1" dirty="0" smtClean="0"/>
          </a:p>
          <a:p>
            <a:pPr algn="ctr"/>
            <a:r>
              <a:rPr lang="fr-FR" sz="2400" b="1" i="1" dirty="0" smtClean="0"/>
              <a:t>Validation du formulaire:</a:t>
            </a:r>
          </a:p>
          <a:p>
            <a:pPr algn="ctr"/>
            <a:endParaRPr lang="fr-FR" dirty="0"/>
          </a:p>
          <a:p>
            <a:pPr algn="ctr"/>
            <a:endParaRPr lang="fr-FR" dirty="0" smtClean="0"/>
          </a:p>
          <a:p>
            <a:pPr algn="ctr"/>
            <a:endParaRPr lang="fr-FR" dirty="0"/>
          </a:p>
          <a:p>
            <a:pPr algn="ctr"/>
            <a:endParaRPr lang="fr-FR" dirty="0" smtClean="0"/>
          </a:p>
          <a:p>
            <a:pPr algn="ctr"/>
            <a:endParaRPr lang="fr-FR" dirty="0"/>
          </a:p>
          <a:p>
            <a:pPr algn="ctr"/>
            <a:endParaRPr lang="fr-FR" dirty="0" smtClean="0"/>
          </a:p>
          <a:p>
            <a:pPr algn="ctr"/>
            <a:endParaRPr lang="fr-FR" dirty="0"/>
          </a:p>
          <a:p>
            <a:pPr algn="ctr"/>
            <a:endParaRPr lang="fr-FR" dirty="0" smtClean="0"/>
          </a:p>
          <a:p>
            <a:pPr algn="ctr"/>
            <a:endParaRPr lang="fr-FR" dirty="0"/>
          </a:p>
          <a:p>
            <a:pPr algn="ctr"/>
            <a:r>
              <a:rPr lang="fr-FR" dirty="0" smtClean="0"/>
              <a:t>Une expression  régulière vérifié  si  l’adresse  email  respecte un format  valide.  </a:t>
            </a:r>
          </a:p>
          <a:p>
            <a:pPr algn="ctr"/>
            <a:r>
              <a:rPr lang="fr-FR" dirty="0" smtClean="0"/>
              <a:t>Un message  d’erreur  est affiché en cas d’ erreur.</a:t>
            </a:r>
          </a:p>
          <a:p>
            <a:pPr algn="ctr"/>
            <a:endParaRPr lang="fr-FR" dirty="0"/>
          </a:p>
          <a:p>
            <a:pPr algn="ctr"/>
            <a:endParaRPr lang="fr-FR" dirty="0" smtClean="0"/>
          </a:p>
          <a:p>
            <a:pPr algn="ctr"/>
            <a:endParaRPr lang="fr-FR" dirty="0"/>
          </a:p>
        </p:txBody>
      </p:sp>
      <p:sp>
        <p:nvSpPr>
          <p:cNvPr id="6" name="Organigramme : Alternative 5"/>
          <p:cNvSpPr/>
          <p:nvPr/>
        </p:nvSpPr>
        <p:spPr>
          <a:xfrm>
            <a:off x="401783" y="3210151"/>
            <a:ext cx="4779818" cy="1899869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dirty="0"/>
          </a:p>
        </p:txBody>
      </p:sp>
      <p:sp>
        <p:nvSpPr>
          <p:cNvPr id="8" name="Organigramme : Alternative 7"/>
          <p:cNvSpPr/>
          <p:nvPr/>
        </p:nvSpPr>
        <p:spPr>
          <a:xfrm>
            <a:off x="7038109" y="3079967"/>
            <a:ext cx="4641273" cy="1842654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dirty="0" smtClean="0"/>
          </a:p>
          <a:p>
            <a:pPr algn="ctr"/>
            <a:endParaRPr lang="fr-FR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83" y="2789021"/>
            <a:ext cx="4779818" cy="2320999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295" y="2789021"/>
            <a:ext cx="4631087" cy="2133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Points techniques </a:t>
            </a:r>
            <a:endParaRPr lang="fr-FR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Bootstrap (composants utilisés) &amp; CSS</a:t>
            </a:r>
          </a:p>
          <a:p>
            <a:endParaRPr lang="fr-FR" dirty="0"/>
          </a:p>
        </p:txBody>
      </p:sp>
      <p:sp>
        <p:nvSpPr>
          <p:cNvPr id="4" name="Organigramme : Alternative 3"/>
          <p:cNvSpPr/>
          <p:nvPr/>
        </p:nvSpPr>
        <p:spPr>
          <a:xfrm>
            <a:off x="290945" y="2894678"/>
            <a:ext cx="3200400" cy="2632363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i="1" dirty="0" smtClean="0"/>
              <a:t> </a:t>
            </a:r>
            <a:r>
              <a:rPr lang="fr-FR" sz="2800" b="1" i="1" dirty="0" smtClean="0"/>
              <a:t>Bootstrap:</a:t>
            </a:r>
          </a:p>
          <a:p>
            <a:pPr algn="ctr"/>
            <a:r>
              <a:rPr lang="fr-FR" dirty="0" smtClean="0"/>
              <a:t>Navbar  responsive</a:t>
            </a:r>
          </a:p>
          <a:p>
            <a:pPr algn="ctr"/>
            <a:r>
              <a:rPr lang="fr-FR" dirty="0" smtClean="0"/>
              <a:t>Cards</a:t>
            </a:r>
          </a:p>
          <a:p>
            <a:pPr algn="ctr"/>
            <a:r>
              <a:rPr lang="fr-FR" dirty="0" smtClean="0"/>
              <a:t>Grid System</a:t>
            </a:r>
          </a:p>
          <a:p>
            <a:pPr algn="ctr"/>
            <a:r>
              <a:rPr lang="fr-FR" dirty="0" smtClean="0"/>
              <a:t>Formulaires </a:t>
            </a:r>
          </a:p>
          <a:p>
            <a:pPr algn="ctr"/>
            <a:r>
              <a:rPr lang="fr-FR" dirty="0" smtClean="0"/>
              <a:t>Boutons</a:t>
            </a:r>
            <a:endParaRPr lang="fr-FR" dirty="0"/>
          </a:p>
        </p:txBody>
      </p:sp>
      <p:sp>
        <p:nvSpPr>
          <p:cNvPr id="5" name="Organigramme : Alternative 4"/>
          <p:cNvSpPr/>
          <p:nvPr/>
        </p:nvSpPr>
        <p:spPr>
          <a:xfrm>
            <a:off x="3877734" y="2604655"/>
            <a:ext cx="6624011" cy="3666896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  <a:p>
            <a:pPr algn="ctr"/>
            <a:endParaRPr lang="fr-FR" dirty="0" smtClean="0"/>
          </a:p>
          <a:p>
            <a:pPr algn="ctr"/>
            <a:endParaRPr lang="fr-FR" dirty="0"/>
          </a:p>
          <a:p>
            <a:pPr algn="ctr"/>
            <a:endParaRPr lang="fr-FR" dirty="0" smtClean="0"/>
          </a:p>
          <a:p>
            <a:pPr algn="ctr"/>
            <a:endParaRPr lang="fr-FR" dirty="0"/>
          </a:p>
          <a:p>
            <a:pPr algn="ctr"/>
            <a:endParaRPr lang="fr-FR" dirty="0" smtClean="0"/>
          </a:p>
          <a:p>
            <a:pPr algn="ctr"/>
            <a:r>
              <a:rPr lang="fr-FR" dirty="0" smtClean="0"/>
              <a:t> </a:t>
            </a:r>
          </a:p>
          <a:p>
            <a:pPr algn="ctr"/>
            <a:endParaRPr lang="fr-FR" dirty="0"/>
          </a:p>
          <a:p>
            <a:pPr algn="ctr"/>
            <a:endParaRPr lang="fr-FR" dirty="0" smtClean="0"/>
          </a:p>
          <a:p>
            <a:pPr algn="ctr"/>
            <a:endParaRPr lang="fr-FR" dirty="0" smtClean="0"/>
          </a:p>
          <a:p>
            <a:pPr algn="ctr"/>
            <a:r>
              <a:rPr lang="fr-FR" sz="2400" b="1" i="1" dirty="0" smtClean="0"/>
              <a:t>CSS</a:t>
            </a:r>
          </a:p>
          <a:p>
            <a:pPr algn="ctr"/>
            <a:r>
              <a:rPr lang="fr-FR" dirty="0" smtClean="0"/>
              <a:t> Les sections apparaissent  </a:t>
            </a:r>
          </a:p>
          <a:p>
            <a:pPr algn="ctr"/>
            <a:r>
              <a:rPr lang="fr-FR" dirty="0" smtClean="0"/>
              <a:t>Progressivement lorsque</a:t>
            </a:r>
          </a:p>
          <a:p>
            <a:pPr algn="ctr"/>
            <a:r>
              <a:rPr lang="fr-FR" dirty="0" smtClean="0"/>
              <a:t>Qu’on entre dans le </a:t>
            </a:r>
          </a:p>
          <a:p>
            <a:pPr algn="ctr"/>
            <a:r>
              <a:rPr lang="fr-FR" dirty="0" smtClean="0"/>
              <a:t>Site</a:t>
            </a:r>
          </a:p>
          <a:p>
            <a:pPr algn="ctr"/>
            <a:endParaRPr lang="fr-FR" dirty="0"/>
          </a:p>
          <a:p>
            <a:pPr algn="ctr"/>
            <a:r>
              <a:rPr lang="fr-FR" dirty="0" smtClean="0"/>
              <a:t>Le mode sombre est  activé </a:t>
            </a:r>
          </a:p>
          <a:p>
            <a:pPr algn="ctr"/>
            <a:r>
              <a:rPr lang="fr-FR" dirty="0" smtClean="0"/>
              <a:t> en ajoutant la classe « </a:t>
            </a:r>
            <a:r>
              <a:rPr lang="fr-FR" dirty="0" err="1" smtClean="0"/>
              <a:t>dark</a:t>
            </a:r>
            <a:r>
              <a:rPr lang="fr-FR" dirty="0" smtClean="0"/>
              <a:t>-mode »</a:t>
            </a:r>
          </a:p>
          <a:p>
            <a:pPr algn="ctr"/>
            <a:r>
              <a:rPr lang="fr-FR" dirty="0" smtClean="0"/>
              <a:t>au body.</a:t>
            </a:r>
          </a:p>
          <a:p>
            <a:pPr algn="ctr"/>
            <a:r>
              <a:rPr lang="fr-FR" dirty="0" smtClean="0"/>
              <a:t>Les couleurs du site sont alors</a:t>
            </a:r>
          </a:p>
          <a:p>
            <a:pPr algn="ctr"/>
            <a:r>
              <a:rPr lang="fr-FR" dirty="0" smtClean="0"/>
              <a:t>Modifiées automatiquement </a:t>
            </a:r>
          </a:p>
          <a:p>
            <a:pPr algn="ctr"/>
            <a:r>
              <a:rPr lang="fr-FR" dirty="0" smtClean="0"/>
              <a:t>Grace au CSS.</a:t>
            </a:r>
          </a:p>
          <a:p>
            <a:pPr algn="ctr"/>
            <a:endParaRPr lang="fr-FR" dirty="0"/>
          </a:p>
          <a:p>
            <a:pPr algn="ctr"/>
            <a:endParaRPr lang="fr-FR" dirty="0" smtClean="0"/>
          </a:p>
          <a:p>
            <a:pPr algn="ctr"/>
            <a:endParaRPr lang="fr-FR" dirty="0"/>
          </a:p>
          <a:p>
            <a:pPr algn="ctr"/>
            <a:endParaRPr lang="fr-FR" dirty="0" smtClean="0"/>
          </a:p>
          <a:p>
            <a:pPr algn="ctr"/>
            <a:endParaRPr lang="fr-FR" dirty="0"/>
          </a:p>
          <a:p>
            <a:pPr algn="ctr"/>
            <a:endParaRPr lang="fr-FR" dirty="0" smtClean="0"/>
          </a:p>
          <a:p>
            <a:pPr algn="ctr"/>
            <a:endParaRPr lang="fr-FR" dirty="0"/>
          </a:p>
          <a:p>
            <a:pPr algn="ctr"/>
            <a:endParaRPr lang="fr-FR" dirty="0" smtClean="0"/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902" y="2992582"/>
            <a:ext cx="1967134" cy="133042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545" y="4438103"/>
            <a:ext cx="1440874" cy="14916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GitHub</a:t>
            </a:r>
            <a:endParaRPr lang="fr-FR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r-FR" sz="3200" i="1" dirty="0" smtClean="0"/>
              <a:t>Historique des commits</a:t>
            </a:r>
            <a:endParaRPr lang="fr-FR" sz="3200" i="1" dirty="0"/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81" y="2737245"/>
            <a:ext cx="4308764" cy="3635846"/>
          </a:xfrm>
        </p:spPr>
      </p:pic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3200" i="1" dirty="0" smtClean="0"/>
              <a:t>Workflow Git &amp; GitHub pages </a:t>
            </a:r>
            <a:endParaRPr lang="fr-FR" sz="3200" i="1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pPr algn="ctr"/>
            <a:r>
              <a:rPr lang="fr-FR" b="1" dirty="0" smtClean="0"/>
              <a:t>Modification du code:</a:t>
            </a:r>
          </a:p>
          <a:p>
            <a:pPr marL="0" indent="0">
              <a:buNone/>
            </a:pPr>
            <a:r>
              <a:rPr lang="fr-FR" dirty="0" smtClean="0"/>
              <a:t>git status</a:t>
            </a:r>
          </a:p>
          <a:p>
            <a:pPr marL="0" indent="0">
              <a:buNone/>
            </a:pPr>
            <a:r>
              <a:rPr lang="fr-FR" dirty="0" smtClean="0"/>
              <a:t>git add  .</a:t>
            </a:r>
          </a:p>
          <a:p>
            <a:pPr marL="0" indent="0">
              <a:buNone/>
            </a:pPr>
            <a:r>
              <a:rPr lang="fr-FR" dirty="0"/>
              <a:t>g</a:t>
            </a:r>
            <a:r>
              <a:rPr lang="fr-FR" dirty="0" smtClean="0"/>
              <a:t>it commit –m  « message »</a:t>
            </a:r>
          </a:p>
          <a:p>
            <a:pPr marL="0" indent="0">
              <a:buNone/>
            </a:pPr>
            <a:r>
              <a:rPr lang="fr-FR" dirty="0" smtClean="0"/>
              <a:t>git push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build="p"/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Difficultés rencontrées &amp; Solutions</a:t>
            </a:r>
            <a:endParaRPr lang="fr-FR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fr-FR" sz="3600" i="1" dirty="0" smtClean="0"/>
              <a:t>Difficulté 1</a:t>
            </a:r>
            <a:endParaRPr lang="fr-FR" sz="3600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89662" y="2737245"/>
            <a:ext cx="5157787" cy="4352925"/>
          </a:xfrm>
        </p:spPr>
        <p:txBody>
          <a:bodyPr>
            <a:normAutofit/>
          </a:bodyPr>
          <a:lstStyle/>
          <a:p>
            <a:pPr algn="ctr"/>
            <a:r>
              <a:rPr lang="fr-FR" sz="2400" b="1" i="1" dirty="0" smtClean="0"/>
              <a:t>Mise en place du mode sombre:</a:t>
            </a:r>
          </a:p>
          <a:p>
            <a:pPr marL="0" indent="0">
              <a:buNone/>
            </a:pPr>
            <a:r>
              <a:rPr lang="fr-FR" b="1" u="sng" dirty="0" smtClean="0"/>
              <a:t>Problème:</a:t>
            </a:r>
          </a:p>
          <a:p>
            <a:pPr marL="0" indent="0">
              <a:buNone/>
            </a:pPr>
            <a:r>
              <a:rPr lang="fr-FR" dirty="0" smtClean="0"/>
              <a:t>Le bouton de changement de thème fonctionnait sur ordinateur mais ne fonctionnait pas correctement sur mobile.</a:t>
            </a:r>
          </a:p>
          <a:p>
            <a:pPr marL="0" indent="0">
              <a:buNone/>
            </a:pPr>
            <a:r>
              <a:rPr lang="fr-FR" dirty="0" smtClean="0"/>
              <a:t>La navbar possédait deux boutons différents pour desktop et mobile qui n’</a:t>
            </a:r>
            <a:r>
              <a:rPr lang="fr-FR" dirty="0"/>
              <a:t>é</a:t>
            </a:r>
            <a:r>
              <a:rPr lang="fr-FR" dirty="0" smtClean="0"/>
              <a:t>taient pas gérés de la même manière.</a:t>
            </a:r>
          </a:p>
          <a:p>
            <a:pPr marL="0" indent="0">
              <a:buNone/>
            </a:pPr>
            <a:r>
              <a:rPr lang="fr-FR" b="1" u="sng" dirty="0" smtClean="0"/>
              <a:t>Solution:</a:t>
            </a:r>
          </a:p>
          <a:p>
            <a:pPr marL="0" indent="0">
              <a:buNone/>
            </a:pPr>
            <a:r>
              <a:rPr lang="fr-FR" dirty="0" smtClean="0"/>
              <a:t>Création d’une gestion spécifique pour les deux boutons et utilisation du localStorage pour conserver le thème choisi.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fr-FR" sz="3600" i="1" dirty="0" smtClean="0"/>
              <a:t>Difficulté 2</a:t>
            </a:r>
            <a:endParaRPr lang="fr-FR" sz="3600" i="1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864239" y="2967828"/>
            <a:ext cx="4263434" cy="3723917"/>
          </a:xfrm>
        </p:spPr>
        <p:txBody>
          <a:bodyPr>
            <a:normAutofit lnSpcReduction="10000"/>
          </a:bodyPr>
          <a:lstStyle/>
          <a:p>
            <a:pPr algn="ctr"/>
            <a:r>
              <a:rPr lang="fr-FR" sz="2400" b="1" i="1" dirty="0" smtClean="0"/>
              <a:t>Validation du formulaire:</a:t>
            </a:r>
          </a:p>
          <a:p>
            <a:pPr marL="0" indent="0">
              <a:buNone/>
            </a:pPr>
            <a:r>
              <a:rPr lang="fr-FR" b="1" u="sng" dirty="0" smtClean="0"/>
              <a:t>Problème:</a:t>
            </a:r>
          </a:p>
          <a:p>
            <a:pPr marL="0" indent="0">
              <a:buNone/>
            </a:pPr>
            <a:r>
              <a:rPr lang="fr-FR" dirty="0" smtClean="0"/>
              <a:t>Les messages d’erreurs ne s’affichaient pas correctement et certains restaient visibles après correction.</a:t>
            </a:r>
          </a:p>
          <a:p>
            <a:pPr marL="0" indent="0">
              <a:buNone/>
            </a:pPr>
            <a:r>
              <a:rPr lang="fr-FR" dirty="0" smtClean="0"/>
              <a:t>Incohérent entre les identifiants HTML et ceux utilisés en JavaScript.</a:t>
            </a:r>
          </a:p>
          <a:p>
            <a:pPr marL="0" indent="0">
              <a:buNone/>
            </a:pPr>
            <a:r>
              <a:rPr lang="fr-FR" b="1" u="sng" dirty="0" smtClean="0"/>
              <a:t>Solution:</a:t>
            </a:r>
          </a:p>
          <a:p>
            <a:pPr marL="0" indent="0">
              <a:buNone/>
            </a:pPr>
            <a:r>
              <a:rPr lang="fr-FR" dirty="0" smtClean="0"/>
              <a:t>Uniformisation des identifiants et réinitialisation des messages d’erreur avant chaque validation.</a:t>
            </a:r>
            <a:endParaRPr lang="fr-F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5" grpId="0" build="p"/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Ressources &amp; Documentation utilisées</a:t>
            </a:r>
            <a:endParaRPr lang="fr-F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26377" y="1793364"/>
            <a:ext cx="12053456" cy="5583382"/>
          </a:xfrm>
        </p:spPr>
        <p:txBody>
          <a:bodyPr/>
          <a:lstStyle/>
          <a:p>
            <a:pPr marL="0" indent="0">
              <a:buNone/>
            </a:pPr>
            <a:endParaRPr lang="fr-FR" dirty="0" smtClean="0"/>
          </a:p>
          <a:p>
            <a:endParaRPr lang="fr-FR" dirty="0"/>
          </a:p>
        </p:txBody>
      </p:sp>
      <p:sp>
        <p:nvSpPr>
          <p:cNvPr id="4" name="Ellipse 3"/>
          <p:cNvSpPr/>
          <p:nvPr/>
        </p:nvSpPr>
        <p:spPr>
          <a:xfrm>
            <a:off x="0" y="2161309"/>
            <a:ext cx="5098473" cy="3144982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i="1" dirty="0" smtClean="0"/>
              <a:t>Documentation officielle :</a:t>
            </a:r>
          </a:p>
          <a:p>
            <a:pPr algn="ctr"/>
            <a:r>
              <a:rPr lang="fr-FR" dirty="0" smtClean="0"/>
              <a:t>Documentation HTML (MDN Web )</a:t>
            </a:r>
          </a:p>
          <a:p>
            <a:pPr algn="ctr"/>
            <a:r>
              <a:rPr lang="fr-FR" dirty="0" smtClean="0"/>
              <a:t>Documentation CSS (MDN Web)</a:t>
            </a:r>
          </a:p>
          <a:p>
            <a:pPr algn="ctr"/>
            <a:r>
              <a:rPr lang="fr-FR" dirty="0" smtClean="0"/>
              <a:t>Documentation JavaScript (MDN W)</a:t>
            </a:r>
          </a:p>
          <a:p>
            <a:pPr algn="ctr"/>
            <a:r>
              <a:rPr lang="fr-FR" dirty="0" smtClean="0"/>
              <a:t>Documentation Bootstrap 5</a:t>
            </a:r>
          </a:p>
          <a:p>
            <a:pPr algn="ctr"/>
            <a:r>
              <a:rPr lang="fr-FR" dirty="0" smtClean="0"/>
              <a:t>Documentation Git GitHub</a:t>
            </a:r>
            <a:endParaRPr lang="fr-FR" dirty="0"/>
          </a:p>
        </p:txBody>
      </p:sp>
      <p:sp>
        <p:nvSpPr>
          <p:cNvPr id="5" name="Ellipse 4"/>
          <p:cNvSpPr/>
          <p:nvPr/>
        </p:nvSpPr>
        <p:spPr>
          <a:xfrm>
            <a:off x="4752109" y="1726586"/>
            <a:ext cx="5056909" cy="2181009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i="1" dirty="0" smtClean="0"/>
              <a:t>Outils utilisés:</a:t>
            </a:r>
          </a:p>
          <a:p>
            <a:pPr algn="ctr"/>
            <a:r>
              <a:rPr lang="fr-FR" dirty="0" smtClean="0"/>
              <a:t>Visual Studio Code</a:t>
            </a:r>
          </a:p>
          <a:p>
            <a:pPr algn="ctr"/>
            <a:r>
              <a:rPr lang="fr-FR" dirty="0" smtClean="0"/>
              <a:t>GitHub</a:t>
            </a:r>
          </a:p>
          <a:p>
            <a:pPr algn="ctr"/>
            <a:r>
              <a:rPr lang="fr-FR" dirty="0" smtClean="0"/>
              <a:t>GitHub Pages</a:t>
            </a:r>
          </a:p>
          <a:p>
            <a:pPr algn="ctr"/>
            <a:r>
              <a:rPr lang="fr-FR" dirty="0" smtClean="0"/>
              <a:t>W3C Validator</a:t>
            </a:r>
          </a:p>
        </p:txBody>
      </p:sp>
      <p:sp>
        <p:nvSpPr>
          <p:cNvPr id="6" name="Ellipse 5"/>
          <p:cNvSpPr/>
          <p:nvPr/>
        </p:nvSpPr>
        <p:spPr>
          <a:xfrm>
            <a:off x="4274129" y="3782904"/>
            <a:ext cx="4627418" cy="2022764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i="1" dirty="0" smtClean="0"/>
              <a:t>Site d’apprentissage</a:t>
            </a:r>
            <a:r>
              <a:rPr lang="fr-FR" dirty="0" smtClean="0"/>
              <a:t>:</a:t>
            </a:r>
          </a:p>
          <a:p>
            <a:pPr algn="ctr"/>
            <a:r>
              <a:rPr lang="fr-FR" dirty="0" smtClean="0"/>
              <a:t>W3Schools</a:t>
            </a:r>
          </a:p>
          <a:p>
            <a:pPr algn="ctr"/>
            <a:r>
              <a:rPr lang="fr-FR" dirty="0" smtClean="0"/>
              <a:t>OpenClassrooms</a:t>
            </a:r>
          </a:p>
          <a:p>
            <a:pPr algn="ctr"/>
            <a:r>
              <a:rPr lang="fr-FR" dirty="0" smtClean="0"/>
              <a:t>MDN Web Docs</a:t>
            </a:r>
            <a:endParaRPr lang="fr-F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Démonstration live du site</a:t>
            </a:r>
            <a:endParaRPr lang="fr-FR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9074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fr-FR" sz="3200" b="1" i="1" dirty="0" smtClean="0"/>
              <a:t>Fonctionnalités présentées:</a:t>
            </a:r>
          </a:p>
          <a:p>
            <a:r>
              <a:rPr lang="fr-FR" sz="2800" dirty="0" smtClean="0"/>
              <a:t>Navigation entre les pages</a:t>
            </a:r>
          </a:p>
          <a:p>
            <a:r>
              <a:rPr lang="fr-FR" sz="2800" dirty="0" smtClean="0"/>
              <a:t>Mode sombre</a:t>
            </a:r>
          </a:p>
          <a:p>
            <a:r>
              <a:rPr lang="fr-FR" sz="2800" dirty="0" smtClean="0"/>
              <a:t>Filtrage des freelances</a:t>
            </a:r>
          </a:p>
          <a:p>
            <a:r>
              <a:rPr lang="fr-FR" sz="2800" dirty="0" smtClean="0"/>
              <a:t>Validation du formulaire</a:t>
            </a:r>
          </a:p>
          <a:p>
            <a:r>
              <a:rPr lang="fr-FR" sz="2800" dirty="0" smtClean="0"/>
              <a:t>Responsive Design</a:t>
            </a:r>
          </a:p>
          <a:p>
            <a:r>
              <a:rPr lang="fr-FR" sz="2800" b="1" dirty="0"/>
              <a:t>Déploiement du site avec GitHub Pages</a:t>
            </a:r>
            <a:r>
              <a:rPr lang="fr-FR" sz="2800" b="1" dirty="0" smtClean="0"/>
              <a:t>:</a:t>
            </a:r>
            <a:endParaRPr lang="fr-FR" sz="2800" dirty="0" smtClean="0"/>
          </a:p>
          <a:p>
            <a:pPr marL="0" indent="0">
              <a:buNone/>
            </a:pPr>
            <a:r>
              <a:rPr lang="en-US" altLang="fr-FR" sz="2800" dirty="0" smtClean="0">
                <a:hlinkClick r:id="rId2"/>
              </a:rPr>
              <a:t> https://gadiaga196.github.io/-Gadiaga-Ndeye-Absa-AfriTalent/</a:t>
            </a:r>
            <a:endParaRPr lang="fr-FR" altLang="en-US" sz="2800" dirty="0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Conclusion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925783"/>
            <a:ext cx="10447866" cy="4115579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conclusion</a:t>
            </a:r>
          </a:p>
        </p:txBody>
      </p:sp>
      <p:sp>
        <p:nvSpPr>
          <p:cNvPr id="4" name="Organigramme : Bande perforée 3"/>
          <p:cNvSpPr/>
          <p:nvPr/>
        </p:nvSpPr>
        <p:spPr>
          <a:xfrm>
            <a:off x="2632364" y="2854036"/>
            <a:ext cx="45719" cy="45719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Organigramme : Bande perforée 4"/>
          <p:cNvSpPr/>
          <p:nvPr/>
        </p:nvSpPr>
        <p:spPr>
          <a:xfrm>
            <a:off x="1257301" y="2426677"/>
            <a:ext cx="7719646" cy="3710887"/>
          </a:xfrm>
          <a:prstGeom prst="flowChartPunchedTap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770" i="1" dirty="0" smtClean="0">
                <a:latin typeface="+mj-lt"/>
              </a:rPr>
              <a:t>Le projet AfriTalent m’a permis de mettre en pratique les notions étudiées en développement web</a:t>
            </a:r>
            <a:endParaRPr lang="fr-FR" sz="3770" i="1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Perspectives d’amélioration </a:t>
            </a:r>
            <a:endParaRPr lang="fr-FR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800" dirty="0" smtClean="0"/>
              <a:t>Création de compte utilisateurs</a:t>
            </a:r>
          </a:p>
          <a:p>
            <a:r>
              <a:rPr lang="fr-FR" sz="2800" dirty="0" smtClean="0"/>
              <a:t>Authentification et connexion</a:t>
            </a:r>
          </a:p>
          <a:p>
            <a:r>
              <a:rPr lang="fr-FR" sz="2800" dirty="0" smtClean="0"/>
              <a:t>Bases de données pour stocker les profils</a:t>
            </a:r>
          </a:p>
          <a:p>
            <a:r>
              <a:rPr lang="fr-FR" sz="2800" dirty="0" smtClean="0"/>
              <a:t>Recherche avancée des freelances</a:t>
            </a:r>
          </a:p>
          <a:p>
            <a:r>
              <a:rPr lang="fr-FR" sz="2800" dirty="0" smtClean="0"/>
              <a:t>Messagerie entre clients et freelances</a:t>
            </a:r>
          </a:p>
          <a:p>
            <a:r>
              <a:rPr lang="fr-FR" sz="2800" dirty="0" smtClean="0"/>
              <a:t>Système  de notation et d’avis</a:t>
            </a:r>
          </a:p>
          <a:p>
            <a:r>
              <a:rPr lang="fr-FR" sz="2800" dirty="0" smtClean="0"/>
              <a:t>Tableau de bord personnalisé</a:t>
            </a:r>
            <a:endParaRPr lang="fr-FR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Facett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te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280</TotalTime>
  <Words>815</Words>
  <Application>Microsoft Office PowerPoint</Application>
  <PresentationFormat>Grand écran</PresentationFormat>
  <Paragraphs>201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2" baseType="lpstr">
      <vt:lpstr>Agency FB</vt:lpstr>
      <vt:lpstr>Algerian</vt:lpstr>
      <vt:lpstr>Arial</vt:lpstr>
      <vt:lpstr>Arial Black</vt:lpstr>
      <vt:lpstr>Trebuchet MS</vt:lpstr>
      <vt:lpstr>Wingdings 3</vt:lpstr>
      <vt:lpstr>Facette</vt:lpstr>
      <vt:lpstr> AfriTalent</vt:lpstr>
      <vt:lpstr>sommaire</vt:lpstr>
      <vt:lpstr>Présentation du site</vt:lpstr>
      <vt:lpstr>Choix de design</vt:lpstr>
      <vt:lpstr>Choix design</vt:lpstr>
      <vt:lpstr>Architecture </vt:lpstr>
      <vt:lpstr>Architecture</vt:lpstr>
      <vt:lpstr>Point technique </vt:lpstr>
      <vt:lpstr>Points techniques </vt:lpstr>
      <vt:lpstr>GitHub</vt:lpstr>
      <vt:lpstr>Difficultés rencontrées &amp; Solutions</vt:lpstr>
      <vt:lpstr>Ressources &amp; Documentation utilisées</vt:lpstr>
      <vt:lpstr>Démonstration live du site</vt:lpstr>
      <vt:lpstr>Conclusion </vt:lpstr>
      <vt:lpstr>Perspectives d’amélioration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</dc:title>
  <dc:creator>Dell Jokhee Khaliss</dc:creator>
  <cp:lastModifiedBy>Dell Jokhee Khaliss</cp:lastModifiedBy>
  <cp:revision>90</cp:revision>
  <dcterms:created xsi:type="dcterms:W3CDTF">2026-06-15T21:51:00Z</dcterms:created>
  <dcterms:modified xsi:type="dcterms:W3CDTF">2026-06-23T22:22:28Z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19A57C8B525F49FF84CA5DCAAF0A26B4_12</vt:lpwstr>
  </property>
  <property fmtid="{D5CDD505-2E9C-101B-9397-08002B2CF9AE}" pid="3" name="KSOProductBuildVer">
    <vt:lpwstr>1036-12.1.0.26880</vt:lpwstr>
  </property>
</Properties>
</file>